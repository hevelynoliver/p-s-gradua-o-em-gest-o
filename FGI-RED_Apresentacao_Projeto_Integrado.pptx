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276" y="-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47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23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19" y="594360"/>
            <a:ext cx="10420453" cy="5029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777240" y="1234440"/>
            <a:ext cx="5943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sz="2400" b="1" dirty="0">
                <a:solidFill>
                  <a:schemeClr val="bg1"/>
                </a:solidFill>
              </a:rPr>
              <a:t>FGI-RED – FRAMEWORK DE GESTÃO INTEGRADA PARA AVALIAÇÃO DE</a:t>
            </a:r>
            <a:br>
              <a:rPr dirty="0">
                <a:solidFill>
                  <a:schemeClr val="bg1"/>
                </a:solidFill>
              </a:rPr>
            </a:br>
            <a:r>
              <a:rPr sz="2400" b="1" dirty="0">
                <a:solidFill>
                  <a:schemeClr val="bg1"/>
                </a:solidFill>
              </a:rPr>
              <a:t>RECURSOS EDUCACIONAIS DIGITAIS: GUIA TÉCNICO DE IMPLEMENTAÇÃO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04672" y="2057400"/>
            <a:ext cx="5669280" cy="838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450" dirty="0">
                <a:solidFill>
                  <a:schemeClr val="bg1"/>
                </a:solidFill>
              </a:rPr>
              <a:t>Guia Técnico de </a:t>
            </a:r>
            <a:r>
              <a:rPr sz="1450" dirty="0" err="1">
                <a:solidFill>
                  <a:schemeClr val="bg1"/>
                </a:solidFill>
              </a:rPr>
              <a:t>Implementação</a:t>
            </a:r>
            <a:r>
              <a:rPr sz="1450" dirty="0">
                <a:solidFill>
                  <a:schemeClr val="bg1"/>
                </a:solidFill>
              </a:rPr>
              <a:t> </a:t>
            </a:r>
            <a:r>
              <a:rPr lang="pt-BR" sz="1450" dirty="0">
                <a:solidFill>
                  <a:schemeClr val="bg1"/>
                </a:solidFill>
              </a:rPr>
              <a:t> - </a:t>
            </a:r>
            <a:r>
              <a:rPr sz="1450" dirty="0" err="1">
                <a:solidFill>
                  <a:schemeClr val="bg1"/>
                </a:solidFill>
              </a:rPr>
              <a:t>Produto</a:t>
            </a:r>
            <a:r>
              <a:rPr sz="1450" dirty="0">
                <a:solidFill>
                  <a:schemeClr val="bg1"/>
                </a:solidFill>
              </a:rPr>
              <a:t> Técnico</a:t>
            </a:r>
            <a:r>
              <a:rPr lang="pt-BR" sz="1450" dirty="0">
                <a:solidFill>
                  <a:schemeClr val="bg1"/>
                </a:solidFill>
              </a:rPr>
              <a:t>/</a:t>
            </a:r>
            <a:r>
              <a:rPr sz="1450" dirty="0">
                <a:solidFill>
                  <a:schemeClr val="bg1"/>
                </a:solidFill>
              </a:rPr>
              <a:t>Tecnológico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04672" y="4434840"/>
            <a:ext cx="6035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sz="1250" dirty="0" err="1">
                <a:solidFill>
                  <a:schemeClr val="bg1"/>
                </a:solidFill>
              </a:rPr>
              <a:t>Curso</a:t>
            </a:r>
            <a:r>
              <a:rPr sz="1250" dirty="0">
                <a:solidFill>
                  <a:schemeClr val="bg1"/>
                </a:solidFill>
              </a:rPr>
              <a:t> de </a:t>
            </a:r>
            <a:r>
              <a:rPr sz="1250" dirty="0" err="1">
                <a:solidFill>
                  <a:schemeClr val="bg1"/>
                </a:solidFill>
              </a:rPr>
              <a:t>Especialização</a:t>
            </a:r>
            <a:r>
              <a:rPr sz="1250" dirty="0">
                <a:solidFill>
                  <a:schemeClr val="bg1"/>
                </a:solidFill>
              </a:rPr>
              <a:t> </a:t>
            </a:r>
            <a:r>
              <a:rPr sz="1250" dirty="0" err="1">
                <a:solidFill>
                  <a:schemeClr val="bg1"/>
                </a:solidFill>
              </a:rPr>
              <a:t>em</a:t>
            </a:r>
            <a:r>
              <a:rPr sz="1250" dirty="0">
                <a:solidFill>
                  <a:schemeClr val="bg1"/>
                </a:solidFill>
              </a:rPr>
              <a:t> </a:t>
            </a:r>
            <a:r>
              <a:rPr sz="1250" dirty="0" err="1">
                <a:solidFill>
                  <a:schemeClr val="bg1"/>
                </a:solidFill>
              </a:rPr>
              <a:t>Gestão</a:t>
            </a:r>
            <a:r>
              <a:rPr sz="1250" dirty="0">
                <a:solidFill>
                  <a:schemeClr val="bg1"/>
                </a:solidFill>
              </a:rPr>
              <a:t> de </a:t>
            </a:r>
            <a:r>
              <a:rPr sz="1250" dirty="0" err="1">
                <a:solidFill>
                  <a:schemeClr val="bg1"/>
                </a:solidFill>
              </a:rPr>
              <a:t>Políticas</a:t>
            </a:r>
            <a:r>
              <a:rPr sz="1250" dirty="0">
                <a:solidFill>
                  <a:schemeClr val="bg1"/>
                </a:solidFill>
              </a:rPr>
              <a:t> </a:t>
            </a:r>
            <a:r>
              <a:rPr sz="1250" dirty="0" err="1">
                <a:solidFill>
                  <a:schemeClr val="bg1"/>
                </a:solidFill>
              </a:rPr>
              <a:t>Públicas</a:t>
            </a:r>
            <a:r>
              <a:rPr sz="1250" dirty="0">
                <a:solidFill>
                  <a:schemeClr val="bg1"/>
                </a:solidFill>
              </a:rPr>
              <a:t> </a:t>
            </a:r>
            <a:r>
              <a:rPr sz="1250" dirty="0" err="1">
                <a:solidFill>
                  <a:schemeClr val="bg1"/>
                </a:solidFill>
              </a:rPr>
              <a:t>Educacionais</a:t>
            </a:r>
            <a:r>
              <a:rPr sz="1250" dirty="0">
                <a:solidFill>
                  <a:schemeClr val="bg1"/>
                </a:solidFill>
              </a:rPr>
              <a:t> e </a:t>
            </a:r>
            <a:r>
              <a:rPr sz="1250" dirty="0" err="1">
                <a:solidFill>
                  <a:schemeClr val="bg1"/>
                </a:solidFill>
              </a:rPr>
              <a:t>Transformação</a:t>
            </a:r>
            <a:r>
              <a:rPr sz="1250" dirty="0">
                <a:solidFill>
                  <a:schemeClr val="bg1"/>
                </a:solidFill>
              </a:rPr>
              <a:t> Digital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04672" y="4892040"/>
            <a:ext cx="6035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sz="830" dirty="0">
                <a:solidFill>
                  <a:schemeClr val="bg1"/>
                </a:solidFill>
              </a:rPr>
              <a:t>DANIELA BELO DOS SANTOS · DANIELLE DE PAULA CORREIA BELLÉ · HEVELYN OLIVEIRA DA SILVA · IGOR FERREIRA DE CASTRO BAYLE · ISABELLA CARDOSO PEREIRA DA SILVA</a:t>
            </a:r>
            <a:r>
              <a:rPr lang="pt-BR" sz="830" dirty="0">
                <a:solidFill>
                  <a:schemeClr val="bg1"/>
                </a:solidFill>
              </a:rPr>
              <a:t> · </a:t>
            </a:r>
            <a:r>
              <a:rPr sz="830" dirty="0">
                <a:solidFill>
                  <a:schemeClr val="bg1"/>
                </a:solidFill>
              </a:rPr>
              <a:t>JANYELLE MAYARA BENTO DE MELO · LARYSSA SANTOS FARIAS BAYLE · NAYANNE LOIDE DA SILVA CAMÊLO · RAUANNY SANT’ANNA ROCHA SIMONATO · YASMIN MARQUES DE LIMA</a:t>
            </a:r>
            <a:br>
              <a:rPr dirty="0">
                <a:solidFill>
                  <a:schemeClr val="bg1"/>
                </a:solidFill>
              </a:rPr>
            </a:br>
            <a:r>
              <a:rPr sz="830" dirty="0" err="1">
                <a:solidFill>
                  <a:schemeClr val="bg1"/>
                </a:solidFill>
              </a:rPr>
              <a:t>Orientação</a:t>
            </a:r>
            <a:r>
              <a:rPr sz="830" dirty="0">
                <a:solidFill>
                  <a:schemeClr val="bg1"/>
                </a:solidFill>
              </a:rPr>
              <a:t>: Prof. Dr. Washington Almeida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1827"/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2600" b="1"/>
              <a:t>1. Problema e contexto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350"/>
              <a:t>Processos relacionados à avaliação de Recursos Educacionais Digitais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64008" cy="32004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500" b="1"/>
              <a:t>Contexto educacional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2176272"/>
            <a:ext cx="3127248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  <a:defRPr sz="1170"/>
            </a:pPr>
            <a:r>
              <a:t>Contexto organizacional vinculado à avaliação de Recursos Educacionais Digitais, apresentado de forma anonimizada.</a:t>
            </a:r>
            <a:endParaRPr lang="en-US" sz="1250" dirty="0"/>
          </a:p>
          <a:p>
            <a:pPr>
              <a:spcAft>
                <a:spcPts val="500"/>
              </a:spcAft>
              <a:defRPr sz="1170"/>
            </a:pPr>
            <a:r>
              <a:t>Participação de diferentes atores, atividades, responsabilidades, informações e documentos.</a:t>
            </a:r>
          </a:p>
          <a:p>
            <a:pPr>
              <a:spcAft>
                <a:spcPts val="500"/>
              </a:spcAft>
              <a:defRPr sz="1170"/>
            </a:pPr>
            <a:r>
              <a:t>Necessidade de organizar fluxos, acompanhar atividades, sistematizar informações e apoiar a tomada de decisão.</a:t>
            </a:r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64008" cy="3200400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36008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500" b="1"/>
              <a:t>Problema central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2176272"/>
            <a:ext cx="3127248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1210"/>
              <a:t>Como um framework de gestão integrada pode contribuir para a organização, o monitoramento e a melhoria dos processos relacionados à avaliação de Recursos Educacionais Digitais?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828800"/>
            <a:ext cx="64008" cy="3200400"/>
          </a:xfrm>
          <a:prstGeom prst="rect">
            <a:avLst/>
          </a:prstGeom>
          <a:solidFill>
            <a:srgbClr val="7A144D"/>
          </a:solidFill>
          <a:ln w="12700">
            <a:solidFill>
              <a:srgbClr val="7A14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93608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500" b="1"/>
              <a:t>Justificativa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3608" y="2176272"/>
            <a:ext cx="3127248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  <a:defRPr sz="1080"/>
            </a:pPr>
            <a:r>
              <a:t>A crescente incorporação das tecnologias digitais à educação amplia a necessidade de processos organizados para sua utilização, acompanhamento e avaliação.</a:t>
            </a:r>
            <a:endParaRPr lang="en-US" sz="1250" dirty="0"/>
          </a:p>
          <a:p>
            <a:pPr>
              <a:spcAft>
                <a:spcPts val="500"/>
              </a:spcAft>
              <a:defRPr sz="1080"/>
            </a:pPr>
            <a:r>
              <a:t>O PNLD estabelece procedimentos e critérios específicos para a avaliação de Recursos Educacionais Digitais.</a:t>
            </a:r>
          </a:p>
          <a:p>
            <a:pPr>
              <a:spcAft>
                <a:spcPts val="500"/>
              </a:spcAft>
              <a:defRPr sz="1080"/>
            </a:pPr>
            <a:r>
              <a:t>O FGI-RED busca apoiar a definição de responsabilidades, a organização dos fluxos, o acompanhamento de indicadores, a gestão das informações e a tomada de decisão.</a:t>
            </a:r>
          </a:p>
        </p:txBody>
      </p:sp>
      <p:sp>
        <p:nvSpPr>
          <p:cNvPr id="15" name="Text 13"/>
          <p:cNvSpPr/>
          <p:nvPr/>
        </p:nvSpPr>
        <p:spPr>
          <a:xfrm>
            <a:off x="822960" y="5715000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25370936-F4CD-1253-4858-5761FAF63FAB}"/>
              </a:ext>
            </a:extLst>
          </p:cNvPr>
          <p:cNvSpPr/>
          <p:nvPr/>
        </p:nvSpPr>
        <p:spPr>
          <a:xfrm>
            <a:off x="502919" y="594360"/>
            <a:ext cx="10652761" cy="5029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" name="Image 0" descr="/mnt/data/ppt_media/image4.png"/>
          <p:cNvPicPr>
            <a:picLocks noChangeAspect="1"/>
          </p:cNvPicPr>
          <p:nvPr/>
        </p:nvPicPr>
        <p:blipFill>
          <a:blip r:embed="rId3"/>
          <a:srcRect t="81802"/>
          <a:stretch/>
        </p:blipFill>
        <p:spPr>
          <a:xfrm>
            <a:off x="305" y="5609968"/>
            <a:ext cx="12191695" cy="1248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1827">
              <a:alpha val="98000"/>
            </a:srgbClr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2600" b="1"/>
              <a:t>2. Objetivos e fundamentação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350"/>
              <a:t>Fundamentos teóricos e institucionais para a construção do produto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sz="1600" b="1"/>
              <a:t>Objetivo geral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32918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sz="1080"/>
              <a:t>Desenvolver o FGI-RED – Framework de Gestão Integrada para Avaliação de Recursos Educacionais Digitais: Guia Técnico de Implementação, com a finalidade de apoiar a organização, a integração, o monitoramento e a melhoria dos processos de gestão relacionados à avaliação de Recursos Educacionais Digitais.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sz="1600" b="1"/>
              <a:t>Objetivos específicos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0" y="2240280"/>
            <a:ext cx="32918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>
              <a:spcAft>
                <a:spcPts val="500"/>
              </a:spcAft>
              <a:buNone/>
              <a:defRPr sz="1019"/>
            </a:pPr>
            <a:r>
              <a:t>a) identificar elementos e necessidades relacionados à gestão dos processos de avaliação de Recursos Educacionais Digitais;</a:t>
            </a:r>
            <a:endParaRPr lang="en-US" sz="1400" dirty="0"/>
          </a:p>
          <a:p>
            <a:pPr>
              <a:spcAft>
                <a:spcPts val="500"/>
              </a:spcAft>
              <a:defRPr sz="1019"/>
            </a:pPr>
            <a:r>
              <a:t>b) definir os componentes, as dimensões e os princípios estruturantes do FGI-RED;</a:t>
            </a:r>
          </a:p>
          <a:p>
            <a:pPr>
              <a:spcAft>
                <a:spcPts val="500"/>
              </a:spcAft>
              <a:defRPr sz="1019"/>
            </a:pPr>
            <a:r>
              <a:t>c) elaborar instrumentos de apoio à implementação do framework, tais como fluxogramas, checklists, matrizes e indicadores;</a:t>
            </a:r>
          </a:p>
          <a:p>
            <a:pPr>
              <a:spcAft>
                <a:spcPts val="500"/>
              </a:spcAft>
              <a:defRPr sz="1019"/>
            </a:pPr>
            <a:r>
              <a:t>d) estruturar o Guia Técnico de Implementação do FGI-RED;</a:t>
            </a:r>
          </a:p>
          <a:p>
            <a:pPr>
              <a:spcAft>
                <a:spcPts val="500"/>
              </a:spcAft>
              <a:defRPr sz="1019"/>
            </a:pPr>
            <a:r>
              <a:t>e) propor mecanismos de monitoramento, acompanhamento e melhoria contínua dos processos;</a:t>
            </a:r>
          </a:p>
          <a:p>
            <a:pPr>
              <a:spcAft>
                <a:spcPts val="500"/>
              </a:spcAft>
              <a:defRPr sz="1019"/>
            </a:pPr>
            <a:r>
              <a:t>f) propor critérios e procedimentos para avaliação futura da aplicabilidade do Produto Técnico-Tecnológico.</a:t>
            </a:r>
          </a:p>
        </p:txBody>
      </p:sp>
      <p:sp>
        <p:nvSpPr>
          <p:cNvPr id="10" name="Text 7"/>
          <p:cNvSpPr/>
          <p:nvPr/>
        </p:nvSpPr>
        <p:spPr>
          <a:xfrm>
            <a:off x="8275320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sz="1600" b="1"/>
              <a:t>Fundamentação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75320" y="2240280"/>
            <a:ext cx="28803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sz="1120"/>
              <a:t>Gestão de processos; governança; gestão do conhecimento; frameworks organizacionais; Recursos Educacionais Digitais; PNLD; Educação Digital; Produtos Técnico-Tecnológicos.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977640"/>
            <a:ext cx="9966960" cy="0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58952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sz="1200"/>
              <a:t>Diagnóstico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sz="1200"/>
              <a:t>Proposta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sz="1200"/>
              <a:t>Implementação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496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sz="1200"/>
              <a:t>Avaliação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>
            <a:extLst>
              <a:ext uri="{FF2B5EF4-FFF2-40B4-BE49-F238E27FC236}">
                <a16:creationId xmlns:a16="http://schemas.microsoft.com/office/drawing/2014/main" id="{A3F82C58-6C40-3D1A-55DD-AF94EB696DE6}"/>
              </a:ext>
            </a:extLst>
          </p:cNvPr>
          <p:cNvSpPr/>
          <p:nvPr/>
        </p:nvSpPr>
        <p:spPr>
          <a:xfrm>
            <a:off x="502919" y="594360"/>
            <a:ext cx="10213849" cy="5029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1827"/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2600" b="1"/>
              <a:t>3. Proposta de solução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350"/>
              <a:t>Produto Técnico-Tecnológico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sz="1800" b="1"/>
              <a:t>Solução proposta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sz="1180"/>
              <a:t>FGI-RED – Framework de Gestão Integrada para Avaliação de Recursos Educacionais Digitais: Guia Técnico de Implementação.</a:t>
            </a:r>
            <a:br/>
            <a:br/>
            <a:r>
              <a:rPr sz="1180"/>
              <a:t>O Framework corresponde à arquitetura conceitual e metodológica; o Guia Técnico de Implementação corresponde à materialização operacional do framework.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47548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sz="1800" b="1"/>
              <a:t>Valor público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407408"/>
            <a:ext cx="4846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sz="1220"/>
              <a:t>Apoiar a integração entre equipes, a organização dos fluxos de trabalho, a definição de responsabilidades, o monitoramento de indicadores, a sistematização das informações e o apoio à tomada de decisão.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880360"/>
            <a:ext cx="4160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pic>
        <p:nvPicPr>
          <p:cNvPr id="13" name="Picture 12" descr="arquitetura_fgi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875714"/>
            <a:ext cx="4041648" cy="4572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4.png"/>
          <p:cNvPicPr>
            <a:picLocks noChangeAspect="1"/>
          </p:cNvPicPr>
          <p:nvPr/>
        </p:nvPicPr>
        <p:blipFill>
          <a:blip r:embed="rId3"/>
          <a:srcRect t="81802"/>
          <a:stretch/>
        </p:blipFill>
        <p:spPr>
          <a:xfrm>
            <a:off x="0" y="5609968"/>
            <a:ext cx="12191695" cy="1248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1827">
              <a:alpha val="98000"/>
            </a:srgbClr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2600" b="1"/>
              <a:t>4. Implementação e gestão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350"/>
              <a:t>Desenvolvimento, aplicação progressiva e avaliação futura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64008" cy="32918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78408" y="1828800"/>
            <a:ext cx="27249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500" b="1"/>
              <a:t>Etapas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8408" y="2176272"/>
            <a:ext cx="2670048" cy="2889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  <a:defRPr sz="1070"/>
            </a:pPr>
            <a:r>
              <a:t>1. Identificação e delimitação do problema</a:t>
            </a:r>
            <a:endParaRPr lang="en-US" sz="1250" dirty="0"/>
          </a:p>
          <a:p>
            <a:pPr>
              <a:spcAft>
                <a:spcPts val="500"/>
              </a:spcAft>
              <a:defRPr sz="1070"/>
            </a:pPr>
            <a:r>
              <a:t>2. Levantamento dos fundamentos e requisitos</a:t>
            </a:r>
          </a:p>
          <a:p>
            <a:pPr>
              <a:spcAft>
                <a:spcPts val="500"/>
              </a:spcAft>
              <a:defRPr sz="1070"/>
            </a:pPr>
            <a:r>
              <a:t>3. Concepção e modelagem do framework</a:t>
            </a:r>
          </a:p>
          <a:p>
            <a:pPr>
              <a:spcAft>
                <a:spcPts val="500"/>
              </a:spcAft>
              <a:defRPr sz="1070"/>
            </a:pPr>
            <a:r>
              <a:t>4. Desenvolvimento do Guia Técnico de Implementação</a:t>
            </a:r>
          </a:p>
          <a:p>
            <a:pPr>
              <a:spcAft>
                <a:spcPts val="500"/>
              </a:spcAft>
              <a:defRPr sz="1070"/>
            </a:pPr>
            <a:r>
              <a:t>5. Proposição da avaliação futura da aplicabilidade</a:t>
            </a:r>
          </a:p>
          <a:p>
            <a:pPr>
              <a:spcAft>
                <a:spcPts val="500"/>
              </a:spcAft>
              <a:defRPr sz="1070"/>
            </a:pPr>
            <a:r>
              <a:t>6. Revisão e consolidação do Produto Técnico-Tecnológico</a:t>
            </a:r>
          </a:p>
        </p:txBody>
      </p:sp>
      <p:sp>
        <p:nvSpPr>
          <p:cNvPr id="9" name="Shape 6"/>
          <p:cNvSpPr/>
          <p:nvPr/>
        </p:nvSpPr>
        <p:spPr>
          <a:xfrm>
            <a:off x="4160520" y="1828800"/>
            <a:ext cx="64008" cy="3291840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361688" y="1828800"/>
            <a:ext cx="27249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500" b="1"/>
              <a:t>Recursos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61688" y="2176272"/>
            <a:ext cx="2670048" cy="2889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  <a:defRPr sz="1060"/>
            </a:pPr>
            <a:r>
              <a:t>Pesquisa bibliográfica e pesquisa documental.</a:t>
            </a:r>
            <a:endParaRPr lang="en-US" sz="1250" dirty="0"/>
          </a:p>
          <a:p>
            <a:pPr>
              <a:spcAft>
                <a:spcPts val="500"/>
              </a:spcAft>
              <a:defRPr sz="1060"/>
            </a:pPr>
            <a:r>
              <a:t>Identificação de necessidades do contexto organizacional.</a:t>
            </a:r>
          </a:p>
          <a:p>
            <a:pPr>
              <a:spcAft>
                <a:spcPts val="500"/>
              </a:spcAft>
              <a:defRPr sz="1060"/>
            </a:pPr>
            <a:r>
              <a:t>Fluxogramas, mapas de processos, matriz de responsabilidades, checklist de diagnóstico, indicadores, mecanismos de acompanhamento, registros de conhecimento e modelo conceitual de painel gerencial.</a:t>
            </a:r>
          </a:p>
          <a:p>
            <a:pPr>
              <a:spcAft>
                <a:spcPts val="500"/>
              </a:spcAft>
              <a:defRPr sz="1060"/>
            </a:pPr>
            <a:r>
              <a:t>Equipe do projeto.</a:t>
            </a:r>
          </a:p>
        </p:txBody>
      </p:sp>
      <p:sp>
        <p:nvSpPr>
          <p:cNvPr id="12" name="Shape 9"/>
          <p:cNvSpPr/>
          <p:nvPr/>
        </p:nvSpPr>
        <p:spPr>
          <a:xfrm>
            <a:off x="7543800" y="1828800"/>
            <a:ext cx="64008" cy="3291840"/>
          </a:xfrm>
          <a:prstGeom prst="rect">
            <a:avLst/>
          </a:prstGeom>
          <a:solidFill>
            <a:srgbClr val="7A144D"/>
          </a:solidFill>
          <a:ln w="12700">
            <a:solidFill>
              <a:srgbClr val="7A14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744968" y="1828800"/>
            <a:ext cx="309067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500" b="1"/>
              <a:t>Riscos e mitigação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44968" y="2176272"/>
            <a:ext cx="3035808" cy="2889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  <a:defRPr sz="1030"/>
            </a:pPr>
            <a:r>
              <a:t>Preservação da confidencialidade do contexto organizacional.</a:t>
            </a:r>
            <a:endParaRPr lang="en-US" sz="1250" dirty="0"/>
          </a:p>
          <a:p>
            <a:pPr>
              <a:spcAft>
                <a:spcPts val="500"/>
              </a:spcAft>
              <a:defRPr sz="1030"/>
            </a:pPr>
            <a:r>
              <a:t>Não divulgação de informações estratégicas, dados institucionais sigilosos ou documentos internos identificáveis.</a:t>
            </a:r>
          </a:p>
          <a:p>
            <a:pPr>
              <a:spcAft>
                <a:spcPts val="500"/>
              </a:spcAft>
              <a:defRPr sz="1030"/>
            </a:pPr>
            <a:r>
              <a:t>Ausência de validação empírica: avaliação futura deverá observar os procedimentos éticos e institucionais aplicáveis.</a:t>
            </a:r>
          </a:p>
          <a:p>
            <a:pPr>
              <a:spcAft>
                <a:spcPts val="500"/>
              </a:spcAft>
              <a:defRPr sz="1030"/>
            </a:pPr>
            <a:r>
              <a:t>Aplicação adaptável às características organizacionais e aos processos existentes.</a:t>
            </a:r>
          </a:p>
        </p:txBody>
      </p:sp>
      <p:sp>
        <p:nvSpPr>
          <p:cNvPr id="15" name="Text 12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>
            <a:extLst>
              <a:ext uri="{FF2B5EF4-FFF2-40B4-BE49-F238E27FC236}">
                <a16:creationId xmlns:a16="http://schemas.microsoft.com/office/drawing/2014/main" id="{ACD67A94-16B3-A6CB-9EC6-80B926C69366}"/>
              </a:ext>
            </a:extLst>
          </p:cNvPr>
          <p:cNvSpPr/>
          <p:nvPr/>
        </p:nvSpPr>
        <p:spPr>
          <a:xfrm>
            <a:off x="502919" y="594360"/>
            <a:ext cx="10698480" cy="5029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1827"/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2600" b="1"/>
              <a:t>5. Resultados esperados e avaliação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350"/>
              <a:t>Proposta de avaliação futura do Produto Técnico-Tecnológico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0698480" cy="539496"/>
          </a:xfrm>
          <a:prstGeom prst="rect">
            <a:avLst/>
          </a:prstGeom>
          <a:solidFill>
            <a:srgbClr val="091827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86968" y="1993392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150" b="1"/>
              <a:t>Dimensão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52928" y="1993392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150" b="1"/>
              <a:t>Indicador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39128" y="1993392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150" b="1"/>
              <a:t>Como medir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441448"/>
            <a:ext cx="1069848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050"/>
              <a:t>Clareza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852928" y="2560320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990"/>
              <a:t>Finalidade, dimensões e instrumentos compreensíveis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739128" y="2560320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990"/>
              <a:t>Instrumento estruturado para profissionais ou especialistas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3008376"/>
            <a:ext cx="10698480" cy="539496"/>
          </a:xfrm>
          <a:prstGeom prst="rect">
            <a:avLst/>
          </a:prstGeom>
          <a:solidFill>
            <a:srgbClr val="F4F6F8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86968" y="3127248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050"/>
              <a:t>Coerência interna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852928" y="3127248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990"/>
              <a:t>Articulação entre problema, dimensões, instrumentos e objetivos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739128" y="3127248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990"/>
              <a:t>Instrumento estruturado para análise dos critérios definidos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77240" y="3575304"/>
            <a:ext cx="1069848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86968" y="3694176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050"/>
              <a:t>Pertinência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852928" y="3694176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990"/>
              <a:t>Adequação da proposta às necessidades de gestão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739128" y="3694176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990"/>
              <a:t>Análise por profissionais ou especialistas com experiência compatível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77240" y="4142232"/>
            <a:ext cx="10698480" cy="539496"/>
          </a:xfrm>
          <a:prstGeom prst="rect">
            <a:avLst/>
          </a:prstGeom>
          <a:solidFill>
            <a:srgbClr val="F4F6F8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86968" y="4261104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1050"/>
              <a:t>Aplicabilidade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852928" y="4261104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sz="990"/>
              <a:t>Possibilidade de utilização em contexto compatível e adaptação às características organizacionais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739128" y="4261104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990"/>
              <a:t>Avaliação futura da aplicabilidade do framework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22960" y="5687568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960120"/>
            <a:ext cx="6309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2900" b="1" dirty="0">
                <a:solidFill>
                  <a:schemeClr val="bg1"/>
                </a:solidFill>
              </a:rPr>
              <a:t>6. </a:t>
            </a:r>
            <a:r>
              <a:rPr sz="2900" b="1" dirty="0" err="1">
                <a:solidFill>
                  <a:schemeClr val="bg1"/>
                </a:solidFill>
              </a:rPr>
              <a:t>Conclusão</a:t>
            </a:r>
            <a:r>
              <a:rPr sz="2900" b="1" dirty="0">
                <a:solidFill>
                  <a:schemeClr val="bg1"/>
                </a:solidFill>
              </a:rPr>
              <a:t> e </a:t>
            </a:r>
            <a:r>
              <a:rPr sz="2900" b="1" dirty="0" err="1">
                <a:solidFill>
                  <a:schemeClr val="bg1"/>
                </a:solidFill>
              </a:rPr>
              <a:t>continuidade</a:t>
            </a:r>
            <a:endParaRPr lang="en-US" sz="29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868680" y="1874520"/>
            <a:ext cx="58521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spcAft>
                <a:spcPts val="500"/>
              </a:spcAft>
              <a:buNone/>
              <a:defRPr sz="1350"/>
            </a:pPr>
            <a:r>
              <a:rPr b="1" dirty="0">
                <a:solidFill>
                  <a:schemeClr val="bg1"/>
                </a:solidFill>
              </a:rPr>
              <a:t>O FGI-RED </a:t>
            </a:r>
            <a:r>
              <a:rPr b="1" dirty="0" err="1">
                <a:solidFill>
                  <a:schemeClr val="bg1"/>
                </a:solidFill>
              </a:rPr>
              <a:t>foi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desenvolvido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como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estrutura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integrada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gestão</a:t>
            </a:r>
            <a:r>
              <a:rPr b="1" dirty="0">
                <a:solidFill>
                  <a:schemeClr val="bg1"/>
                </a:solidFill>
              </a:rPr>
              <a:t> dos </a:t>
            </a:r>
            <a:r>
              <a:rPr b="1" dirty="0" err="1">
                <a:solidFill>
                  <a:schemeClr val="bg1"/>
                </a:solidFill>
              </a:rPr>
              <a:t>processos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relacionados</a:t>
            </a:r>
            <a:r>
              <a:rPr b="1" dirty="0">
                <a:solidFill>
                  <a:schemeClr val="bg1"/>
                </a:solidFill>
              </a:rPr>
              <a:t> à </a:t>
            </a:r>
            <a:r>
              <a:rPr b="1" dirty="0" err="1">
                <a:solidFill>
                  <a:schemeClr val="bg1"/>
                </a:solidFill>
              </a:rPr>
              <a:t>avaliação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Recursos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Educacionais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Digitais</a:t>
            </a:r>
            <a:r>
              <a:rPr b="1" dirty="0">
                <a:solidFill>
                  <a:schemeClr val="bg1"/>
                </a:solidFill>
              </a:rPr>
              <a:t>.</a:t>
            </a:r>
            <a:endParaRPr lang="en-US" sz="1700" b="1" dirty="0">
              <a:solidFill>
                <a:schemeClr val="bg1"/>
              </a:solidFill>
            </a:endParaRPr>
          </a:p>
          <a:p>
            <a:pPr>
              <a:spcAft>
                <a:spcPts val="500"/>
              </a:spcAft>
              <a:defRPr sz="1350"/>
            </a:pPr>
            <a:r>
              <a:rPr b="1" dirty="0">
                <a:solidFill>
                  <a:schemeClr val="bg1"/>
                </a:solidFill>
              </a:rPr>
              <a:t>Sua principal </a:t>
            </a:r>
            <a:r>
              <a:rPr b="1" dirty="0" err="1">
                <a:solidFill>
                  <a:schemeClr val="bg1"/>
                </a:solidFill>
              </a:rPr>
              <a:t>contribuição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consiste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na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integração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Governança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Planejamento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Gestão</a:t>
            </a:r>
            <a:r>
              <a:rPr b="1" dirty="0">
                <a:solidFill>
                  <a:schemeClr val="bg1"/>
                </a:solidFill>
              </a:rPr>
              <a:t> dos </a:t>
            </a:r>
            <a:r>
              <a:rPr b="1" dirty="0" err="1">
                <a:solidFill>
                  <a:schemeClr val="bg1"/>
                </a:solidFill>
              </a:rPr>
              <a:t>Fluxos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Monitoramento</a:t>
            </a:r>
            <a:r>
              <a:rPr b="1" dirty="0">
                <a:solidFill>
                  <a:schemeClr val="bg1"/>
                </a:solidFill>
              </a:rPr>
              <a:t> e </a:t>
            </a:r>
            <a:r>
              <a:rPr b="1" dirty="0" err="1">
                <a:solidFill>
                  <a:schemeClr val="bg1"/>
                </a:solidFill>
              </a:rPr>
              <a:t>Indicadores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Gestão</a:t>
            </a:r>
            <a:r>
              <a:rPr b="1" dirty="0">
                <a:solidFill>
                  <a:schemeClr val="bg1"/>
                </a:solidFill>
              </a:rPr>
              <a:t> do </a:t>
            </a:r>
            <a:r>
              <a:rPr b="1" dirty="0" err="1">
                <a:solidFill>
                  <a:schemeClr val="bg1"/>
                </a:solidFill>
              </a:rPr>
              <a:t>Conhecimento</a:t>
            </a:r>
            <a:r>
              <a:rPr b="1" dirty="0">
                <a:solidFill>
                  <a:schemeClr val="bg1"/>
                </a:solidFill>
              </a:rPr>
              <a:t> e </a:t>
            </a:r>
            <a:r>
              <a:rPr b="1" dirty="0" err="1">
                <a:solidFill>
                  <a:schemeClr val="bg1"/>
                </a:solidFill>
              </a:rPr>
              <a:t>Inteligência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Gerencial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/>
            </a:pPr>
            <a:r>
              <a:rPr b="1" dirty="0">
                <a:solidFill>
                  <a:schemeClr val="bg1"/>
                </a:solidFill>
              </a:rPr>
              <a:t>O </a:t>
            </a:r>
            <a:r>
              <a:rPr b="1" dirty="0" err="1">
                <a:solidFill>
                  <a:schemeClr val="bg1"/>
                </a:solidFill>
              </a:rPr>
              <a:t>produto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não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substitui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critérios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pedagógicos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técnicos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ou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normativos</a:t>
            </a:r>
            <a:r>
              <a:rPr b="1" dirty="0">
                <a:solidFill>
                  <a:schemeClr val="bg1"/>
                </a:solidFill>
              </a:rPr>
              <a:t>, nem </a:t>
            </a:r>
            <a:r>
              <a:rPr b="1" dirty="0" err="1">
                <a:solidFill>
                  <a:schemeClr val="bg1"/>
                </a:solidFill>
              </a:rPr>
              <a:t>constitui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instrumento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oficial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avaliação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sistema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informatizado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ou</a:t>
            </a:r>
            <a:r>
              <a:rPr b="1" dirty="0">
                <a:solidFill>
                  <a:schemeClr val="bg1"/>
                </a:solidFill>
              </a:rPr>
              <a:t> banco de dados </a:t>
            </a:r>
            <a:r>
              <a:rPr b="1" dirty="0" err="1">
                <a:solidFill>
                  <a:schemeClr val="bg1"/>
                </a:solidFill>
              </a:rPr>
              <a:t>institucional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/>
            </a:pPr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ausência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validação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empírica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constitui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limite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reconhecido</a:t>
            </a:r>
            <a:r>
              <a:rPr b="1" dirty="0">
                <a:solidFill>
                  <a:schemeClr val="bg1"/>
                </a:solidFill>
              </a:rPr>
              <a:t>; </a:t>
            </a:r>
            <a:r>
              <a:rPr b="1" dirty="0" err="1">
                <a:solidFill>
                  <a:schemeClr val="bg1"/>
                </a:solidFill>
              </a:rPr>
              <a:t>avaliações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futuras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poderão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examinar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clareza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coerência</a:t>
            </a:r>
            <a:r>
              <a:rPr b="1" dirty="0">
                <a:solidFill>
                  <a:schemeClr val="bg1"/>
                </a:solidFill>
              </a:rPr>
              <a:t> interna, </a:t>
            </a:r>
            <a:r>
              <a:rPr b="1" dirty="0" err="1">
                <a:solidFill>
                  <a:schemeClr val="bg1"/>
                </a:solidFill>
              </a:rPr>
              <a:t>pertinência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aplicabilidade</a:t>
            </a:r>
            <a:r>
              <a:rPr b="1" dirty="0">
                <a:solidFill>
                  <a:schemeClr val="bg1"/>
                </a:solidFill>
              </a:rPr>
              <a:t> e </a:t>
            </a:r>
            <a:r>
              <a:rPr b="1" dirty="0" err="1">
                <a:solidFill>
                  <a:schemeClr val="bg1"/>
                </a:solidFill>
              </a:rPr>
              <a:t>adequação</a:t>
            </a:r>
            <a:r>
              <a:rPr b="1" dirty="0">
                <a:solidFill>
                  <a:schemeClr val="bg1"/>
                </a:solidFill>
              </a:rPr>
              <a:t> dos </a:t>
            </a:r>
            <a:r>
              <a:rPr b="1" dirty="0" err="1">
                <a:solidFill>
                  <a:schemeClr val="bg1"/>
                </a:solidFill>
              </a:rPr>
              <a:t>instrumentos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/>
            </a:pPr>
            <a:r>
              <a:rPr b="1" dirty="0">
                <a:solidFill>
                  <a:schemeClr val="bg1"/>
                </a:solidFill>
              </a:rPr>
              <a:t>A </a:t>
            </a:r>
            <a:r>
              <a:rPr b="1" dirty="0" err="1">
                <a:solidFill>
                  <a:schemeClr val="bg1"/>
                </a:solidFill>
              </a:rPr>
              <a:t>estrutura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foi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concebida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como</a:t>
            </a:r>
            <a:r>
              <a:rPr b="1" dirty="0">
                <a:solidFill>
                  <a:schemeClr val="bg1"/>
                </a:solidFill>
              </a:rPr>
              <a:t> base </a:t>
            </a:r>
            <a:r>
              <a:rPr b="1" dirty="0" err="1">
                <a:solidFill>
                  <a:schemeClr val="bg1"/>
                </a:solidFill>
              </a:rPr>
              <a:t>passível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revisão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adaptação</a:t>
            </a:r>
            <a:r>
              <a:rPr b="1" dirty="0">
                <a:solidFill>
                  <a:schemeClr val="bg1"/>
                </a:solidFill>
              </a:rPr>
              <a:t> e </a:t>
            </a:r>
            <a:r>
              <a:rPr b="1" dirty="0" err="1">
                <a:solidFill>
                  <a:schemeClr val="bg1"/>
                </a:solidFill>
              </a:rPr>
              <a:t>aperfeiçoamento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 2"/>
          <p:cNvSpPr/>
          <p:nvPr/>
        </p:nvSpPr>
        <p:spPr>
          <a:xfrm>
            <a:off x="868680" y="4892040"/>
            <a:ext cx="493776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sz="4000" b="1" dirty="0" err="1">
                <a:solidFill>
                  <a:schemeClr val="bg1"/>
                </a:solidFill>
              </a:rPr>
              <a:t>Perguntas</a:t>
            </a:r>
            <a:r>
              <a:rPr sz="4000" b="1" dirty="0">
                <a:solidFill>
                  <a:schemeClr val="bg1"/>
                </a:solidFill>
              </a:rPr>
              <a:t>?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904</Words>
  <Application>Microsoft Office PowerPoint</Application>
  <PresentationFormat>Widescreen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NEES / UFAL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apresentação do TCC</dc:title>
  <dc:subject>Template de apresentação de TCC - Projeto Integrado</dc:subject>
  <dc:creator>Washington Almeida</dc:creator>
  <cp:lastModifiedBy>Rauanny Sant'anna</cp:lastModifiedBy>
  <cp:revision>3</cp:revision>
  <dcterms:created xsi:type="dcterms:W3CDTF">2026-08-05T10:51:43Z</dcterms:created>
  <dcterms:modified xsi:type="dcterms:W3CDTF">2026-09-10T19:55:57Z</dcterms:modified>
</cp:coreProperties>
</file>